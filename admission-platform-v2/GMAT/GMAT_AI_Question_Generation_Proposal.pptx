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91695" cy="1828800"/>
          </a:xfrm>
          <a:prstGeom prst="rect">
            <a:avLst/>
          </a:prstGeom>
          <a:solidFill>
            <a:srgbClr val="1F4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GMAT Question Generation</a:t>
            </a:r>
            <a:br/>
            <a:r>
              <a:t>via AI Fine-Tuning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DCFF"/>
                </a:solidFill>
              </a:defRPr>
            </a:pPr>
            <a:r>
              <a:t>Strategic Proposal for UpToTen Test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1E3C"/>
                </a:solidFill>
              </a:defRPr>
            </a:pPr>
            <a:r>
              <a:t>The Challenge: Question Gap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2560320" cy="20116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9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011680"/>
            <a:ext cx="2560320" cy="73152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962FF"/>
                </a:solidFill>
              </a:defRPr>
            </a:pPr>
            <a:r>
              <a:t>1,342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918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646478"/>
                </a:solidFill>
              </a:defRPr>
            </a:pPr>
            <a:r>
              <a:t>Current Questions</a:t>
            </a:r>
            <a:br/>
            <a:r>
              <a:t>Available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2011680"/>
            <a:ext cx="2560320" cy="20116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0" y="2011680"/>
            <a:ext cx="2560320" cy="73152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237744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C896"/>
                </a:solidFill>
              </a:defRPr>
            </a:pPr>
            <a:r>
              <a:t>1,172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2918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646478"/>
                </a:solidFill>
              </a:defRPr>
            </a:pPr>
            <a:r>
              <a:t>Questions Needed</a:t>
            </a:r>
            <a:br/>
            <a:r>
              <a:t>Per Student/Cycle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011680"/>
            <a:ext cx="2560320" cy="20116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2011680"/>
            <a:ext cx="2560320" cy="7315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237744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6B6B"/>
                </a:solidFill>
              </a:defRPr>
            </a:pPr>
            <a:r>
              <a:t>5,000+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2918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646478"/>
                </a:solidFill>
              </a:defRPr>
            </a:pPr>
            <a:r>
              <a:t>Additional Questions</a:t>
            </a:r>
            <a:br/>
            <a:r>
              <a:t>Needed for Scale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2011680"/>
            <a:ext cx="2560320" cy="20116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966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0" y="2011680"/>
            <a:ext cx="2560320" cy="73152"/>
          </a:xfrm>
          <a:prstGeom prst="rect">
            <a:avLst/>
          </a:prstGeom>
          <a:solidFill>
            <a:srgbClr val="966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237744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9664C8"/>
                </a:solidFill>
              </a:defRPr>
            </a:pPr>
            <a:r>
              <a:t>4 weeks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32918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646478"/>
                </a:solidFill>
              </a:defRPr>
            </a:pPr>
            <a:r>
              <a:t>Target Timeline</a:t>
            </a:r>
            <a:br/>
            <a:r>
              <a:t>to Fill Gap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1E3C"/>
                </a:solidFill>
              </a:defRPr>
            </a:pPr>
            <a:r>
              <a:t>Current Question Distribution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371600"/>
          <a:ext cx="10515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Section</a:t>
                      </a:r>
                    </a:p>
                  </a:txBody>
                  <a:tcPr>
                    <a:solidFill>
                      <a:srgbClr val="296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Available</a:t>
                      </a:r>
                    </a:p>
                  </a:txBody>
                  <a:tcPr>
                    <a:solidFill>
                      <a:srgbClr val="296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Per Cycle Need</a:t>
                      </a:r>
                    </a:p>
                  </a:txBody>
                  <a:tcPr>
                    <a:solidFill>
                      <a:srgbClr val="296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2962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1E3C"/>
                          </a:solidFill>
                        </a:defRPr>
                      </a:pPr>
                      <a:r>
                        <a:t>Quantitative Reasoning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1E3C"/>
                          </a:solidFill>
                        </a:defRPr>
                      </a:pPr>
                      <a:r>
                        <a:t>582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1E3C"/>
                          </a:solidFill>
                        </a:defRPr>
                      </a:pPr>
                      <a:r>
                        <a:t>469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1E3C"/>
                          </a:solidFill>
                        </a:defRPr>
                      </a:pPr>
                      <a:r>
                        <a:t>✓ 1 cycle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1E3C"/>
                          </a:solidFill>
                        </a:defRPr>
                      </a:pPr>
                      <a:r>
                        <a:t>Verbal Reasoning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1E3C"/>
                          </a:solidFill>
                        </a:defRPr>
                      </a:pPr>
                      <a:r>
                        <a:t>383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1E3C"/>
                          </a:solidFill>
                        </a:defRPr>
                      </a:pPr>
                      <a:r>
                        <a:t>311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1E3C"/>
                          </a:solidFill>
                        </a:defRPr>
                      </a:pPr>
                      <a:r>
                        <a:t>✓ 1 cycle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1E3C"/>
                          </a:solidFill>
                        </a:defRPr>
                      </a:pPr>
                      <a:r>
                        <a:t>Data Insights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1E3C"/>
                          </a:solidFill>
                        </a:defRPr>
                      </a:pPr>
                      <a:r>
                        <a:t>377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1E3C"/>
                          </a:solidFill>
                        </a:defRPr>
                      </a:pPr>
                      <a:r>
                        <a:t>392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1E3C"/>
                          </a:solidFill>
                        </a:defRPr>
                      </a:pPr>
                      <a:r>
                        <a:t>⚠ Slight gap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1E3C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1E3C"/>
                          </a:solidFill>
                        </a:defRPr>
                      </a:pPr>
                      <a:r>
                        <a:t>1,342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1E3C"/>
                          </a:solidFill>
                        </a:defRPr>
                      </a:pPr>
                      <a:r>
                        <a:t>1,172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1E3C"/>
                          </a:solidFill>
                        </a:defRPr>
                      </a:pPr>
                      <a:r>
                        <a:t>Gap grows with scale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3840480"/>
            <a:ext cx="2133295" cy="4572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The Proposed Solution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1E3C"/>
                </a:solidFill>
              </a:defRPr>
            </a:pPr>
            <a:r>
              <a:t>What is AI Fine-Tuning?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C3C50"/>
                </a:solidFill>
              </a:defRPr>
            </a:pPr>
            <a:r>
              <a:t>• Adapts a pre-trained AI model (GPT-4o) to your specific use case</a:t>
            </a:r>
          </a:p>
          <a:p>
            <a:pPr>
              <a:spcAft>
                <a:spcPts val="1200"/>
              </a:spcAft>
              <a:defRPr sz="2000">
                <a:solidFill>
                  <a:srgbClr val="3C3C50"/>
                </a:solidFill>
              </a:defRPr>
            </a:pPr>
            <a:r>
              <a:t>• Trains on examples of desired output format and style</a:t>
            </a:r>
          </a:p>
          <a:p>
            <a:pPr>
              <a:spcAft>
                <a:spcPts val="1200"/>
              </a:spcAft>
              <a:defRPr sz="2000">
                <a:solidFill>
                  <a:srgbClr val="3C3C50"/>
                </a:solidFill>
              </a:defRPr>
            </a:pPr>
            <a:r>
              <a:t>• Unlike prompting, it modifies the model's behavior permanently</a:t>
            </a:r>
          </a:p>
          <a:p>
            <a:pPr>
              <a:spcAft>
                <a:spcPts val="1200"/>
              </a:spcAft>
              <a:defRPr sz="2000">
                <a:solidFill>
                  <a:srgbClr val="3C3C50"/>
                </a:solidFill>
              </a:defRPr>
            </a:pPr>
            <a:r>
              <a:t>• Result: Consistent, high-quality GMAT-style questions on demand</a:t>
            </a:r>
          </a:p>
          <a:p>
            <a:pPr>
              <a:spcAft>
                <a:spcPts val="1200"/>
              </a:spcAft>
              <a:defRPr sz="2000">
                <a:solidFill>
                  <a:srgbClr val="3C3C50"/>
                </a:solidFill>
              </a:defRPr>
            </a:pPr>
            <a:r>
              <a:t>• One-time training → Unlimited generation capability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1E3C"/>
                </a:solidFill>
              </a:defRPr>
            </a:pPr>
            <a:r>
              <a:t>Why Fine-Tuning?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5303520" cy="502920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29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4937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962FF"/>
                </a:solidFill>
              </a:defRPr>
            </a:pPr>
            <a:r>
              <a:t>Fine-Tuning 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C3C50"/>
                </a:solidFill>
              </a:defRPr>
            </a:pPr>
            <a:r>
              <a:t>• Low cost: ~$50 for training + generation</a:t>
            </a:r>
          </a:p>
          <a:p>
            <a:pPr>
              <a:spcAft>
                <a:spcPts val="800"/>
              </a:spcAft>
              <a:defRPr sz="1600">
                <a:solidFill>
                  <a:srgbClr val="3C3C50"/>
                </a:solidFill>
              </a:defRPr>
            </a:pPr>
            <a:r>
              <a:t>• High consistency: Same format every time</a:t>
            </a:r>
          </a:p>
          <a:p>
            <a:pPr>
              <a:spcAft>
                <a:spcPts val="800"/>
              </a:spcAft>
              <a:defRPr sz="1600">
                <a:solidFill>
                  <a:srgbClr val="3C3C50"/>
                </a:solidFill>
              </a:defRPr>
            </a:pPr>
            <a:r>
              <a:t>• Scalable: Generate thousands on demand</a:t>
            </a:r>
          </a:p>
          <a:p>
            <a:pPr>
              <a:spcAft>
                <a:spcPts val="800"/>
              </a:spcAft>
              <a:defRPr sz="1600">
                <a:solidFill>
                  <a:srgbClr val="3C3C50"/>
                </a:solidFill>
              </a:defRPr>
            </a:pPr>
            <a:r>
              <a:t>• Fast after setup: Seconds per question</a:t>
            </a:r>
          </a:p>
          <a:p>
            <a:pPr>
              <a:spcAft>
                <a:spcPts val="800"/>
              </a:spcAft>
              <a:defRPr sz="1600">
                <a:solidFill>
                  <a:srgbClr val="3C3C50"/>
                </a:solidFill>
              </a:defRPr>
            </a:pPr>
            <a:r>
              <a:t>• Token-efficient: No examples needed in prompts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303520" cy="5029200"/>
          </a:xfrm>
          <a:prstGeom prst="roundRect">
            <a:avLst/>
          </a:prstGeom>
          <a:solidFill>
            <a:srgbClr val="F0FFFA"/>
          </a:solidFill>
          <a:ln w="25400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4937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C896"/>
                </a:solidFill>
              </a:defRPr>
            </a:pPr>
            <a:r>
              <a:t>Alternatives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9456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C3C50"/>
                </a:solidFill>
              </a:defRPr>
            </a:pPr>
            <a:r>
              <a:t>• Manual creation: $25,000+ for 2,500 questions</a:t>
            </a:r>
          </a:p>
          <a:p>
            <a:pPr>
              <a:spcAft>
                <a:spcPts val="800"/>
              </a:spcAft>
              <a:defRPr sz="1600">
                <a:solidFill>
                  <a:srgbClr val="3C3C50"/>
                </a:solidFill>
              </a:defRPr>
            </a:pPr>
            <a:r>
              <a:t>• Few-shot prompting: Higher per-question cost</a:t>
            </a:r>
          </a:p>
          <a:p>
            <a:pPr>
              <a:spcAft>
                <a:spcPts val="800"/>
              </a:spcAft>
              <a:defRPr sz="1600">
                <a:solidFill>
                  <a:srgbClr val="3C3C50"/>
                </a:solidFill>
              </a:defRPr>
            </a:pPr>
            <a:r>
              <a:t>• Purchase questions: $5,000-15,000 licensing</a:t>
            </a:r>
          </a:p>
          <a:p>
            <a:pPr>
              <a:spcAft>
                <a:spcPts val="800"/>
              </a:spcAft>
              <a:defRPr sz="1600">
                <a:solidFill>
                  <a:srgbClr val="3C3C50"/>
                </a:solidFill>
              </a:defRPr>
            </a:pPr>
            <a:r>
              <a:t>• Partner with test prep: Revenue share + dependency</a:t>
            </a:r>
          </a:p>
          <a:p>
            <a:pPr>
              <a:spcAft>
                <a:spcPts val="800"/>
              </a:spcAft>
              <a:defRPr sz="1600">
                <a:solidFill>
                  <a:srgbClr val="3C3C50"/>
                </a:solidFill>
              </a:defRPr>
            </a:pPr>
            <a:r>
              <a:t>• All alternatives: Slower or more expensive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1E3C"/>
                </a:solidFill>
              </a:defRPr>
            </a:pPr>
            <a:r>
              <a:t>How It Works: The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C3C50"/>
                </a:solidFill>
              </a:defRPr>
            </a:pPr>
            <a:r>
              <a:t>• STEP 1: Select 150-300 of our best existing questions for training</a:t>
            </a:r>
          </a:p>
          <a:p>
            <a:pPr>
              <a:spcAft>
                <a:spcPts val="1200"/>
              </a:spcAft>
              <a:defRPr sz="2000">
                <a:solidFill>
                  <a:srgbClr val="3C3C50"/>
                </a:solidFill>
              </a:defRPr>
            </a:pPr>
            <a:r>
              <a:t>• STEP 2: Convert to OpenAI's JSONL training format</a:t>
            </a:r>
          </a:p>
          <a:p>
            <a:pPr>
              <a:spcAft>
                <a:spcPts val="1200"/>
              </a:spcAft>
              <a:defRPr sz="2000">
                <a:solidFill>
                  <a:srgbClr val="3C3C50"/>
                </a:solidFill>
              </a:defRPr>
            </a:pPr>
            <a:r>
              <a:t>• STEP 3: Fine-tune GPT-4o model (2-4 hours, ~$10)</a:t>
            </a:r>
          </a:p>
          <a:p>
            <a:pPr>
              <a:spcAft>
                <a:spcPts val="1200"/>
              </a:spcAft>
              <a:defRPr sz="2000">
                <a:solidFill>
                  <a:srgbClr val="3C3C50"/>
                </a:solidFill>
              </a:defRPr>
            </a:pPr>
            <a:r>
              <a:t>• STEP 4: Generate new questions via API (~$8 per 1,000)</a:t>
            </a:r>
          </a:p>
          <a:p>
            <a:pPr>
              <a:spcAft>
                <a:spcPts val="1200"/>
              </a:spcAft>
              <a:defRPr sz="2000">
                <a:solidFill>
                  <a:srgbClr val="3C3C50"/>
                </a:solidFill>
              </a:defRPr>
            </a:pPr>
            <a:r>
              <a:t>• STEP 5: Expert review and validation (in-house GMAT experts)</a:t>
            </a:r>
          </a:p>
          <a:p>
            <a:pPr>
              <a:spcAft>
                <a:spcPts val="1200"/>
              </a:spcAft>
              <a:defRPr sz="2000">
                <a:solidFill>
                  <a:srgbClr val="3C3C50"/>
                </a:solidFill>
              </a:defRPr>
            </a:pPr>
            <a:r>
              <a:t>• STEP 6: Import approved questions to platform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3840480"/>
            <a:ext cx="2133295" cy="4572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Implementation Plan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1E3C"/>
                </a:solidFill>
              </a:defRPr>
            </a:pPr>
            <a:r>
              <a:t>4-Week Implementation Timeline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286000"/>
            <a:ext cx="9144000" cy="45720"/>
          </a:xfrm>
          <a:prstGeom prst="rect">
            <a:avLst/>
          </a:prstGeom>
          <a:solidFill>
            <a:srgbClr val="C8C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45920" y="2148840"/>
            <a:ext cx="320040" cy="320040"/>
          </a:xfrm>
          <a:prstGeom prst="ellipse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2103120" cy="3657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9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962FF"/>
                </a:solidFill>
              </a:defRPr>
            </a:pPr>
            <a:r>
              <a:t>Week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291840"/>
            <a:ext cx="1828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05064"/>
                </a:solidFill>
              </a:defRPr>
            </a:pPr>
            <a:r>
              <a:t>• Select 150 training questions</a:t>
            </a:r>
          </a:p>
          <a:p>
            <a:pPr>
              <a:spcAft>
                <a:spcPts val="400"/>
              </a:spcAft>
              <a:defRPr sz="1100">
                <a:solidFill>
                  <a:srgbClr val="505064"/>
                </a:solidFill>
              </a:defRPr>
            </a:pPr>
            <a:r>
              <a:t>• Build export scripts</a:t>
            </a:r>
          </a:p>
          <a:p>
            <a:pPr>
              <a:spcAft>
                <a:spcPts val="400"/>
              </a:spcAft>
              <a:defRPr sz="1100">
                <a:solidFill>
                  <a:srgbClr val="505064"/>
                </a:solidFill>
              </a:defRPr>
            </a:pPr>
            <a:r>
              <a:t>• Set up OpenAI API</a:t>
            </a:r>
          </a:p>
          <a:p>
            <a:pPr>
              <a:spcAft>
                <a:spcPts val="400"/>
              </a:spcAft>
              <a:defRPr sz="1100">
                <a:solidFill>
                  <a:srgbClr val="505064"/>
                </a:solidFill>
              </a:defRPr>
            </a:pPr>
            <a:r>
              <a:t>• Run first fine-tuning</a:t>
            </a:r>
          </a:p>
          <a:p>
            <a:pPr>
              <a:spcAft>
                <a:spcPts val="400"/>
              </a:spcAft>
              <a:defRPr sz="1100">
                <a:solidFill>
                  <a:srgbClr val="505064"/>
                </a:solidFill>
              </a:defRPr>
            </a:pPr>
            <a:r>
              <a:t>• Generate 50 pilot questions</a:t>
            </a:r>
          </a:p>
        </p:txBody>
      </p:sp>
      <p:sp>
        <p:nvSpPr>
          <p:cNvPr id="10" name="Oval 9"/>
          <p:cNvSpPr/>
          <p:nvPr/>
        </p:nvSpPr>
        <p:spPr>
          <a:xfrm>
            <a:off x="4069080" y="2148840"/>
            <a:ext cx="320040" cy="320040"/>
          </a:xfrm>
          <a:prstGeom prst="ellipse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154680" y="2743200"/>
            <a:ext cx="2103120" cy="3657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54680" y="283464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C896"/>
                </a:solidFill>
              </a:defRPr>
            </a:pPr>
            <a:r>
              <a:t>Week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3291840"/>
            <a:ext cx="1828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05064"/>
                </a:solidFill>
              </a:defRPr>
            </a:pPr>
            <a:r>
              <a:t>• Expert reviews pilot</a:t>
            </a:r>
          </a:p>
          <a:p>
            <a:pPr>
              <a:spcAft>
                <a:spcPts val="400"/>
              </a:spcAft>
              <a:defRPr sz="1100">
                <a:solidFill>
                  <a:srgbClr val="505064"/>
                </a:solidFill>
              </a:defRPr>
            </a:pPr>
            <a:r>
              <a:t>• Iterate on training</a:t>
            </a:r>
          </a:p>
          <a:p>
            <a:pPr>
              <a:spcAft>
                <a:spcPts val="400"/>
              </a:spcAft>
              <a:defRPr sz="1100">
                <a:solidFill>
                  <a:srgbClr val="505064"/>
                </a:solidFill>
              </a:defRPr>
            </a:pPr>
            <a:r>
              <a:t>• Generate batch 1 (500)</a:t>
            </a:r>
          </a:p>
          <a:p>
            <a:pPr>
              <a:spcAft>
                <a:spcPts val="400"/>
              </a:spcAft>
              <a:defRPr sz="1100">
                <a:solidFill>
                  <a:srgbClr val="505064"/>
                </a:solidFill>
              </a:defRPr>
            </a:pPr>
            <a:r>
              <a:t>• Begin parallel review</a:t>
            </a:r>
          </a:p>
          <a:p>
            <a:pPr>
              <a:spcAft>
                <a:spcPts val="400"/>
              </a:spcAft>
              <a:defRPr sz="1100">
                <a:solidFill>
                  <a:srgbClr val="505064"/>
                </a:solidFill>
              </a:defRPr>
            </a:pPr>
            <a:r>
              <a:t>• Quality assessment</a:t>
            </a:r>
          </a:p>
        </p:txBody>
      </p:sp>
      <p:sp>
        <p:nvSpPr>
          <p:cNvPr id="14" name="Oval 13"/>
          <p:cNvSpPr/>
          <p:nvPr/>
        </p:nvSpPr>
        <p:spPr>
          <a:xfrm>
            <a:off x="6492240" y="2148840"/>
            <a:ext cx="320040" cy="320040"/>
          </a:xfrm>
          <a:prstGeom prst="ellipse">
            <a:avLst/>
          </a:prstGeom>
          <a:solidFill>
            <a:srgbClr val="966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577840" y="2743200"/>
            <a:ext cx="2103120" cy="3657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66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77840" y="283464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9664C8"/>
                </a:solidFill>
              </a:defRPr>
            </a:pPr>
            <a:r>
              <a:t>Week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0" y="3291840"/>
            <a:ext cx="1828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05064"/>
                </a:solidFill>
              </a:defRPr>
            </a:pPr>
            <a:r>
              <a:t>• Scale generation (2,000+)</a:t>
            </a:r>
          </a:p>
          <a:p>
            <a:pPr>
              <a:spcAft>
                <a:spcPts val="400"/>
              </a:spcAft>
              <a:defRPr sz="1100">
                <a:solidFill>
                  <a:srgbClr val="505064"/>
                </a:solidFill>
              </a:defRPr>
            </a:pPr>
            <a:r>
              <a:t>• Parallel expert review</a:t>
            </a:r>
          </a:p>
          <a:p>
            <a:pPr>
              <a:spcAft>
                <a:spcPts val="400"/>
              </a:spcAft>
              <a:defRPr sz="1100">
                <a:solidFill>
                  <a:srgbClr val="505064"/>
                </a:solidFill>
              </a:defRPr>
            </a:pPr>
            <a:r>
              <a:t>• Fix/reject as needed</a:t>
            </a:r>
          </a:p>
          <a:p>
            <a:pPr>
              <a:spcAft>
                <a:spcPts val="400"/>
              </a:spcAft>
              <a:defRPr sz="1100">
                <a:solidFill>
                  <a:srgbClr val="505064"/>
                </a:solidFill>
              </a:defRPr>
            </a:pPr>
            <a:r>
              <a:t>• Quality tracking</a:t>
            </a:r>
          </a:p>
          <a:p>
            <a:pPr>
              <a:spcAft>
                <a:spcPts val="400"/>
              </a:spcAft>
              <a:defRPr sz="1100">
                <a:solidFill>
                  <a:srgbClr val="505064"/>
                </a:solidFill>
              </a:defRPr>
            </a:pPr>
            <a:r>
              <a:t>• Refinement cycle</a:t>
            </a:r>
          </a:p>
        </p:txBody>
      </p:sp>
      <p:sp>
        <p:nvSpPr>
          <p:cNvPr id="18" name="Oval 17"/>
          <p:cNvSpPr/>
          <p:nvPr/>
        </p:nvSpPr>
        <p:spPr>
          <a:xfrm>
            <a:off x="8915400" y="2148840"/>
            <a:ext cx="320040" cy="32004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01000" y="2743200"/>
            <a:ext cx="2103120" cy="3657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01000" y="283464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6B6B"/>
                </a:solidFill>
              </a:defRPr>
            </a:pPr>
            <a:r>
              <a:t>Week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3291840"/>
            <a:ext cx="1828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05064"/>
                </a:solidFill>
              </a:defRPr>
            </a:pPr>
            <a:r>
              <a:t>• Convert to platform format</a:t>
            </a:r>
          </a:p>
          <a:p>
            <a:pPr>
              <a:spcAft>
                <a:spcPts val="400"/>
              </a:spcAft>
              <a:defRPr sz="1100">
                <a:solidFill>
                  <a:srgbClr val="505064"/>
                </a:solidFill>
              </a:defRPr>
            </a:pPr>
            <a:r>
              <a:t>• Database import</a:t>
            </a:r>
          </a:p>
          <a:p>
            <a:pPr>
              <a:spcAft>
                <a:spcPts val="400"/>
              </a:spcAft>
              <a:defRPr sz="1100">
                <a:solidFill>
                  <a:srgbClr val="505064"/>
                </a:solidFill>
              </a:defRPr>
            </a:pPr>
            <a:r>
              <a:t>• Platform testing</a:t>
            </a:r>
          </a:p>
          <a:p>
            <a:pPr>
              <a:spcAft>
                <a:spcPts val="400"/>
              </a:spcAft>
              <a:defRPr sz="1100">
                <a:solidFill>
                  <a:srgbClr val="505064"/>
                </a:solidFill>
              </a:defRPr>
            </a:pPr>
            <a:r>
              <a:t>• Final QA</a:t>
            </a:r>
          </a:p>
          <a:p>
            <a:pPr>
              <a:spcAft>
                <a:spcPts val="400"/>
              </a:spcAft>
              <a:defRPr sz="1100">
                <a:solidFill>
                  <a:srgbClr val="505064"/>
                </a:solidFill>
              </a:defRPr>
            </a:pPr>
            <a:r>
              <a:t>• Launch!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1E3C"/>
                </a:solidFill>
              </a:defRPr>
            </a:pPr>
            <a:r>
              <a:t>Cost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2560320" cy="20116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9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011680"/>
            <a:ext cx="2560320" cy="73152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962FF"/>
                </a:solidFill>
              </a:defRPr>
            </a:pPr>
            <a:r>
              <a:t>~$50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918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646478"/>
                </a:solidFill>
              </a:defRPr>
            </a:pPr>
            <a:r>
              <a:t>AI Costs</a:t>
            </a:r>
            <a:br/>
            <a:r>
              <a:t>(Training + Generation)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2011680"/>
            <a:ext cx="2560320" cy="20116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0" y="2011680"/>
            <a:ext cx="2560320" cy="73152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237744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C896"/>
                </a:solidFill>
              </a:defRPr>
            </a:pPr>
            <a:r>
              <a:t>65 hrs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2918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646478"/>
                </a:solidFill>
              </a:defRPr>
            </a:pPr>
            <a:r>
              <a:t>Total Human Effort</a:t>
            </a:r>
            <a:br/>
            <a:r>
              <a:t>(Dev + Expert)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011680"/>
            <a:ext cx="2560320" cy="20116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2011680"/>
            <a:ext cx="2560320" cy="7315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237744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6B6B"/>
                </a:solidFill>
              </a:defRPr>
            </a:pPr>
            <a:r>
              <a:t>$3,500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2918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646478"/>
                </a:solidFill>
              </a:defRPr>
            </a:pPr>
            <a:r>
              <a:t>Total Estimated Cost</a:t>
            </a:r>
            <a:br/>
            <a:r>
              <a:t>(at $50/hour)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2011680"/>
            <a:ext cx="2560320" cy="20116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966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0" y="2011680"/>
            <a:ext cx="2560320" cy="73152"/>
          </a:xfrm>
          <a:prstGeom prst="rect">
            <a:avLst/>
          </a:prstGeom>
          <a:solidFill>
            <a:srgbClr val="966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237744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9664C8"/>
                </a:solidFill>
              </a:defRPr>
            </a:pPr>
            <a:r>
              <a:t>86%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32918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646478"/>
                </a:solidFill>
              </a:defRPr>
            </a:pPr>
            <a:r>
              <a:t>Cost Savings vs.</a:t>
            </a:r>
            <a:br/>
            <a:r>
              <a:t>Manual Creation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1E3C"/>
                </a:solidFill>
              </a:defRPr>
            </a:pPr>
            <a:r>
              <a:t>Cost Comparison: AI vs. Alternatives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371600"/>
          <a:ext cx="10515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Approach</a:t>
                      </a:r>
                    </a:p>
                  </a:txBody>
                  <a:tcPr>
                    <a:solidFill>
                      <a:srgbClr val="296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>
                    <a:solidFill>
                      <a:srgbClr val="296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Time</a:t>
                      </a:r>
                    </a:p>
                  </a:txBody>
                  <a:tcPr>
                    <a:solidFill>
                      <a:srgbClr val="296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Cost</a:t>
                      </a:r>
                    </a:p>
                  </a:txBody>
                  <a:tcPr>
                    <a:solidFill>
                      <a:srgbClr val="2962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1E3C"/>
                          </a:solidFill>
                        </a:defRPr>
                      </a:pPr>
                      <a:r>
                        <a:t>Manual Creation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1E3C"/>
                          </a:solidFill>
                        </a:defRPr>
                      </a:pPr>
                      <a:r>
                        <a:t>2,500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1E3C"/>
                          </a:solidFill>
                        </a:defRPr>
                      </a:pPr>
                      <a:r>
                        <a:t>500+ hours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1E3C"/>
                          </a:solidFill>
                        </a:defRPr>
                      </a:pPr>
                      <a:r>
                        <a:t>$25,000+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1E3C"/>
                          </a:solidFill>
                        </a:defRPr>
                      </a:pPr>
                      <a:r>
                        <a:t>Purchase/License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1E3C"/>
                          </a:solidFill>
                        </a:defRPr>
                      </a:pPr>
                      <a:r>
                        <a:t>2,500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1E3C"/>
                          </a:solidFill>
                        </a:defRPr>
                      </a:pPr>
                      <a:r>
                        <a:t>2-4 weeks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1E3C"/>
                          </a:solidFill>
                        </a:defRPr>
                      </a:pPr>
                      <a:r>
                        <a:t>$5,000-15,000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1E3C"/>
                          </a:solidFill>
                        </a:defRPr>
                      </a:pPr>
                      <a:r>
                        <a:t>AI + Expert Review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1E3C"/>
                          </a:solidFill>
                        </a:defRPr>
                      </a:pPr>
                      <a:r>
                        <a:t>2,500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1E3C"/>
                          </a:solidFill>
                        </a:defRPr>
                      </a:pPr>
                      <a:r>
                        <a:t>65 hours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1E3C"/>
                          </a:solidFill>
                        </a:defRPr>
                      </a:pPr>
                      <a:r>
                        <a:t>~$3,500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1E3C"/>
                          </a:solidFill>
                        </a:defRPr>
                      </a:pPr>
                      <a:r>
                        <a:t>SAVINGS with 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1E3C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1E3C"/>
                          </a:solidFill>
                        </a:defRPr>
                      </a:pPr>
                      <a:r>
                        <a:t>87% less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1E3C"/>
                          </a:solidFill>
                        </a:defRPr>
                      </a:pPr>
                      <a:r>
                        <a:t>86% less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3840480"/>
            <a:ext cx="2133295" cy="4572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Quality Assurance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1E3C"/>
                </a:solidFill>
              </a:defRPr>
            </a:pPr>
            <a:r>
              <a:t>Quality Assurance Process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5303520" cy="502920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29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4937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962FF"/>
                </a:solidFill>
              </a:defRPr>
            </a:pPr>
            <a:r>
              <a:t>Automated Checks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C3C50"/>
                </a:solidFill>
              </a:defRPr>
            </a:pPr>
            <a:r>
              <a:t>• Format validation: Correct JSON structure</a:t>
            </a:r>
          </a:p>
          <a:p>
            <a:pPr>
              <a:spcAft>
                <a:spcPts val="800"/>
              </a:spcAft>
              <a:defRPr sz="1600">
                <a:solidFill>
                  <a:srgbClr val="3C3C50"/>
                </a:solidFill>
              </a:defRPr>
            </a:pPr>
            <a:r>
              <a:t>• Field verification: All required fields present</a:t>
            </a:r>
          </a:p>
          <a:p>
            <a:pPr>
              <a:spcAft>
                <a:spcPts val="800"/>
              </a:spcAft>
              <a:defRPr sz="1600">
                <a:solidFill>
                  <a:srgbClr val="3C3C50"/>
                </a:solidFill>
              </a:defRPr>
            </a:pPr>
            <a:r>
              <a:t>• Answer options: Exactly 5 choices (a-e)</a:t>
            </a:r>
          </a:p>
          <a:p>
            <a:pPr>
              <a:spcAft>
                <a:spcPts val="800"/>
              </a:spcAft>
              <a:defRPr sz="1600">
                <a:solidFill>
                  <a:srgbClr val="3C3C50"/>
                </a:solidFill>
              </a:defRPr>
            </a:pPr>
            <a:r>
              <a:t>• Mathematical validation: Verify calculations</a:t>
            </a:r>
          </a:p>
          <a:p>
            <a:pPr>
              <a:spcAft>
                <a:spcPts val="800"/>
              </a:spcAft>
              <a:defRPr sz="1600">
                <a:solidFill>
                  <a:srgbClr val="3C3C50"/>
                </a:solidFill>
              </a:defRPr>
            </a:pPr>
            <a:r>
              <a:t>• Duplication check: Compare to existing questions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303520" cy="5029200"/>
          </a:xfrm>
          <a:prstGeom prst="roundRect">
            <a:avLst/>
          </a:prstGeom>
          <a:solidFill>
            <a:srgbClr val="F0FFFA"/>
          </a:solidFill>
          <a:ln w="25400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4937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C896"/>
                </a:solidFill>
              </a:defRPr>
            </a:pPr>
            <a:r>
              <a:t>Expert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9456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C3C50"/>
                </a:solidFill>
              </a:defRPr>
            </a:pPr>
            <a:r>
              <a:t>• Mathematical/logical correctness</a:t>
            </a:r>
          </a:p>
          <a:p>
            <a:pPr>
              <a:spcAft>
                <a:spcPts val="800"/>
              </a:spcAft>
              <a:defRPr sz="1600">
                <a:solidFill>
                  <a:srgbClr val="3C3C50"/>
                </a:solidFill>
              </a:defRPr>
            </a:pPr>
            <a:r>
              <a:t>• Clear, unambiguous wording</a:t>
            </a:r>
          </a:p>
          <a:p>
            <a:pPr>
              <a:spcAft>
                <a:spcPts val="800"/>
              </a:spcAft>
              <a:defRPr sz="1600">
                <a:solidFill>
                  <a:srgbClr val="3C3C50"/>
                </a:solidFill>
              </a:defRPr>
            </a:pPr>
            <a:r>
              <a:t>• Appropriate difficulty level</a:t>
            </a:r>
          </a:p>
          <a:p>
            <a:pPr>
              <a:spcAft>
                <a:spcPts val="800"/>
              </a:spcAft>
              <a:defRPr sz="1600">
                <a:solidFill>
                  <a:srgbClr val="3C3C50"/>
                </a:solidFill>
              </a:defRPr>
            </a:pPr>
            <a:r>
              <a:t>• Realistic GMAT-style scenarios</a:t>
            </a:r>
          </a:p>
          <a:p>
            <a:pPr>
              <a:spcAft>
                <a:spcPts val="800"/>
              </a:spcAft>
              <a:defRPr sz="1600">
                <a:solidFill>
                  <a:srgbClr val="3C3C50"/>
                </a:solidFill>
              </a:defRPr>
            </a:pPr>
            <a:r>
              <a:t>• Quality explanation verification</a:t>
            </a:r>
          </a:p>
          <a:p>
            <a:pPr>
              <a:spcAft>
                <a:spcPts val="800"/>
              </a:spcAft>
              <a:defRPr sz="1600">
                <a:solidFill>
                  <a:srgbClr val="3C3C50"/>
                </a:solidFill>
              </a:defRPr>
            </a:pPr>
            <a:r>
              <a:t>• Target: 100-150 questions/expert/day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1E3C"/>
                </a:solidFill>
              </a:defRPr>
            </a:pPr>
            <a:r>
              <a:t>Success Metrics &amp; Go/No-Go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C3C50"/>
                </a:solidFill>
              </a:defRPr>
            </a:pPr>
            <a:r>
              <a:t>• QUALITY: &gt;80% of generated questions pass expert review on first pass</a:t>
            </a:r>
          </a:p>
          <a:p>
            <a:pPr>
              <a:spcAft>
                <a:spcPts val="1200"/>
              </a:spcAft>
              <a:defRPr sz="2000">
                <a:solidFill>
                  <a:srgbClr val="3C3C50"/>
                </a:solidFill>
              </a:defRPr>
            </a:pPr>
            <a:r>
              <a:t>• ACCURACY: &lt;5% of questions contain mathematical/logical errors</a:t>
            </a:r>
          </a:p>
          <a:p>
            <a:pPr>
              <a:spcAft>
                <a:spcPts val="1200"/>
              </a:spcAft>
              <a:defRPr sz="2000">
                <a:solidFill>
                  <a:srgbClr val="3C3C50"/>
                </a:solidFill>
              </a:defRPr>
            </a:pPr>
            <a:r>
              <a:t>• SPEED: 2,500+ validated questions delivered within 4 weeks</a:t>
            </a:r>
          </a:p>
          <a:p>
            <a:pPr>
              <a:spcAft>
                <a:spcPts val="1200"/>
              </a:spcAft>
              <a:defRPr sz="2000">
                <a:solidFill>
                  <a:srgbClr val="3C3C50"/>
                </a:solidFill>
              </a:defRPr>
            </a:pPr>
            <a:r>
              <a:t>• COVERAGE: Balanced distribution across all topics and difficulty levels</a:t>
            </a:r>
          </a:p>
          <a:p>
            <a:pPr>
              <a:spcAft>
                <a:spcPts val="1200"/>
              </a:spcAft>
              <a:defRPr sz="2000">
                <a:solidFill>
                  <a:srgbClr val="3C3C5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3C3C50"/>
                </a:solidFill>
              </a:defRPr>
            </a:pPr>
            <a:r>
              <a:t>• GO/NO-GO CHECKPOINTS:</a:t>
            </a:r>
          </a:p>
          <a:p>
            <a:pPr>
              <a:spcAft>
                <a:spcPts val="1200"/>
              </a:spcAft>
              <a:defRPr sz="2000">
                <a:solidFill>
                  <a:srgbClr val="3C3C50"/>
                </a:solidFill>
              </a:defRPr>
            </a:pPr>
            <a:r>
              <a:t>•    Day 5: Pilot review - &gt;70% pass rate to continue</a:t>
            </a:r>
          </a:p>
          <a:p>
            <a:pPr>
              <a:spcAft>
                <a:spcPts val="1200"/>
              </a:spcAft>
              <a:defRPr sz="2000">
                <a:solidFill>
                  <a:srgbClr val="3C3C50"/>
                </a:solidFill>
              </a:defRPr>
            </a:pPr>
            <a:r>
              <a:t>•    Week 2: &lt;10% error rate to scale up</a:t>
            </a:r>
          </a:p>
          <a:p>
            <a:pPr>
              <a:spcAft>
                <a:spcPts val="1200"/>
              </a:spcAft>
              <a:defRPr sz="2000">
                <a:solidFill>
                  <a:srgbClr val="3C3C50"/>
                </a:solidFill>
              </a:defRPr>
            </a:pPr>
            <a:r>
              <a:t>•    Week 4: 2,000+ validated questions to launch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3840480"/>
            <a:ext cx="2133295" cy="4572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Risk Assessment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1E3C"/>
                </a:solidFill>
              </a:defRPr>
            </a:pPr>
            <a:r>
              <a:t>Risk Assessment &amp; Mitigations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371600"/>
          <a:ext cx="10515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Risk</a:t>
                      </a:r>
                    </a:p>
                  </a:txBody>
                  <a:tcPr>
                    <a:solidFill>
                      <a:srgbClr val="296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296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Mitigation</a:t>
                      </a:r>
                    </a:p>
                  </a:txBody>
                  <a:tcPr>
                    <a:solidFill>
                      <a:srgbClr val="296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Residual</a:t>
                      </a:r>
                    </a:p>
                  </a:txBody>
                  <a:tcPr>
                    <a:solidFill>
                      <a:srgbClr val="2962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1E3C"/>
                          </a:solidFill>
                        </a:defRPr>
                      </a:pPr>
                      <a:r>
                        <a:t>Quality Issues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1E3C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1E3C"/>
                          </a:solidFill>
                        </a:defRPr>
                      </a:pPr>
                      <a:r>
                        <a:t>100% expert review, pilot first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1E3C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1E3C"/>
                          </a:solidFill>
                        </a:defRPr>
                      </a:pPr>
                      <a:r>
                        <a:t>Copyright/Legal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1E3C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1E3C"/>
                          </a:solidFill>
                        </a:defRPr>
                      </a:pPr>
                      <a:r>
                        <a:t>Train on format, not content; legal 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1E3C"/>
                          </a:solidFill>
                        </a:defRPr>
                      </a:pPr>
                      <a:r>
                        <a:t>Low-Med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1E3C"/>
                          </a:solidFill>
                        </a:defRPr>
                      </a:pPr>
                      <a:r>
                        <a:t>Difficulty Calibration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1E3C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1E3C"/>
                          </a:solidFill>
                        </a:defRPr>
                      </a:pPr>
                      <a:r>
                        <a:t>Include labels, track performance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1E3C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1E3C"/>
                          </a:solidFill>
                        </a:defRPr>
                      </a:pPr>
                      <a:r>
                        <a:t>Timeline Slippage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1E3C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1E3C"/>
                          </a:solidFill>
                        </a:defRPr>
                      </a:pPr>
                      <a:r>
                        <a:t>Buffer in schedule, parallel 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1E3C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3840480"/>
            <a:ext cx="2133295" cy="4572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Decision &amp; Next Steps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1E3C"/>
                </a:solidFill>
              </a:defRPr>
            </a:pPr>
            <a:r>
              <a:t>Resources Required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C3C50"/>
                </a:solidFill>
              </a:defRPr>
            </a:pPr>
            <a:r>
              <a:t>• BUDGET:</a:t>
            </a:r>
          </a:p>
          <a:p>
            <a:pPr>
              <a:spcAft>
                <a:spcPts val="1200"/>
              </a:spcAft>
              <a:defRPr sz="2000">
                <a:solidFill>
                  <a:srgbClr val="3C3C50"/>
                </a:solidFill>
              </a:defRPr>
            </a:pPr>
            <a:r>
              <a:t>•    • ~$50 for AI costs (training + generation)</a:t>
            </a:r>
          </a:p>
          <a:p>
            <a:pPr>
              <a:spcAft>
                <a:spcPts val="1200"/>
              </a:spcAft>
              <a:defRPr sz="2000">
                <a:solidFill>
                  <a:srgbClr val="3C3C50"/>
                </a:solidFill>
              </a:defRPr>
            </a:pPr>
            <a:r>
              <a:t>•    • Expert time: 25-35 hours over 4 weeks</a:t>
            </a:r>
          </a:p>
          <a:p>
            <a:pPr>
              <a:spcAft>
                <a:spcPts val="1200"/>
              </a:spcAft>
              <a:defRPr sz="2000">
                <a:solidFill>
                  <a:srgbClr val="3C3C50"/>
                </a:solidFill>
              </a:defRPr>
            </a:pPr>
            <a:r>
              <a:t>•    • Developer time: 20-30 hours over 4 weeks</a:t>
            </a:r>
          </a:p>
          <a:p>
            <a:pPr>
              <a:spcAft>
                <a:spcPts val="1200"/>
              </a:spcAft>
              <a:defRPr sz="2000">
                <a:solidFill>
                  <a:srgbClr val="3C3C5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3C3C50"/>
                </a:solidFill>
              </a:defRPr>
            </a:pPr>
            <a:r>
              <a:t>• PERSONNEL:</a:t>
            </a:r>
          </a:p>
          <a:p>
            <a:pPr>
              <a:spcAft>
                <a:spcPts val="1200"/>
              </a:spcAft>
              <a:defRPr sz="2000">
                <a:solidFill>
                  <a:srgbClr val="3C3C50"/>
                </a:solidFill>
              </a:defRPr>
            </a:pPr>
            <a:r>
              <a:t>•    • 1 Developer (scripts, integration, automation)</a:t>
            </a:r>
          </a:p>
          <a:p>
            <a:pPr>
              <a:spcAft>
                <a:spcPts val="1200"/>
              </a:spcAft>
              <a:defRPr sz="2000">
                <a:solidFill>
                  <a:srgbClr val="3C3C50"/>
                </a:solidFill>
              </a:defRPr>
            </a:pPr>
            <a:r>
              <a:t>•    • 1-2 GMAT Experts (training selection, validation)</a:t>
            </a:r>
          </a:p>
          <a:p>
            <a:pPr>
              <a:spcAft>
                <a:spcPts val="1200"/>
              </a:spcAft>
              <a:defRPr sz="2000">
                <a:solidFill>
                  <a:srgbClr val="3C3C5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3C3C50"/>
                </a:solidFill>
              </a:defRPr>
            </a:pPr>
            <a:r>
              <a:t>• TECHNICAL:</a:t>
            </a:r>
          </a:p>
          <a:p>
            <a:pPr>
              <a:spcAft>
                <a:spcPts val="1200"/>
              </a:spcAft>
              <a:defRPr sz="2000">
                <a:solidFill>
                  <a:srgbClr val="3C3C50"/>
                </a:solidFill>
              </a:defRPr>
            </a:pPr>
            <a:r>
              <a:t>•    • OpenAI API account with payment method</a:t>
            </a:r>
          </a:p>
          <a:p>
            <a:pPr>
              <a:spcAft>
                <a:spcPts val="1200"/>
              </a:spcAft>
              <a:defRPr sz="2000">
                <a:solidFill>
                  <a:srgbClr val="3C3C50"/>
                </a:solidFill>
              </a:defRPr>
            </a:pPr>
            <a:r>
              <a:t>•    • Access to existing question database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1E3C"/>
                </a:solidFill>
              </a:defRPr>
            </a:pPr>
            <a:r>
              <a:t>Deliverables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C3C50"/>
                </a:solidFill>
              </a:defRPr>
            </a:pPr>
            <a:r>
              <a:t>• JSONL export script - Convert existing questions to training format</a:t>
            </a:r>
          </a:p>
          <a:p>
            <a:pPr>
              <a:spcAft>
                <a:spcPts val="1200"/>
              </a:spcAft>
              <a:defRPr sz="2000">
                <a:solidFill>
                  <a:srgbClr val="3C3C50"/>
                </a:solidFill>
              </a:defRPr>
            </a:pPr>
            <a:r>
              <a:t>• Fine-tuned GPT-4o model - Specialized for GMAT question generation</a:t>
            </a:r>
          </a:p>
          <a:p>
            <a:pPr>
              <a:spcAft>
                <a:spcPts val="1200"/>
              </a:spcAft>
              <a:defRPr sz="2000">
                <a:solidFill>
                  <a:srgbClr val="3C3C50"/>
                </a:solidFill>
              </a:defRPr>
            </a:pPr>
            <a:r>
              <a:t>• Generation scripts - Automated question creation with validation</a:t>
            </a:r>
          </a:p>
          <a:p>
            <a:pPr>
              <a:spcAft>
                <a:spcPts val="1200"/>
              </a:spcAft>
              <a:defRPr sz="2000">
                <a:solidFill>
                  <a:srgbClr val="3C3C50"/>
                </a:solidFill>
              </a:defRPr>
            </a:pPr>
            <a:r>
              <a:t>• Expert review system - Tracking spreadsheet for QA process</a:t>
            </a:r>
          </a:p>
          <a:p>
            <a:pPr>
              <a:spcAft>
                <a:spcPts val="1200"/>
              </a:spcAft>
              <a:defRPr sz="2000">
                <a:solidFill>
                  <a:srgbClr val="3C3C50"/>
                </a:solidFill>
              </a:defRPr>
            </a:pPr>
            <a:r>
              <a:t>• 2,500+ validated questions - Imported and ready in platform</a:t>
            </a:r>
          </a:p>
          <a:p>
            <a:pPr>
              <a:spcAft>
                <a:spcPts val="1200"/>
              </a:spcAft>
              <a:defRPr sz="2000">
                <a:solidFill>
                  <a:srgbClr val="3C3C50"/>
                </a:solidFill>
              </a:defRPr>
            </a:pPr>
            <a:r>
              <a:t>• Process documentation - Guide for future question generation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Recommendation: Proceed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C896"/>
                </a:solidFill>
              </a:defRPr>
            </a:pPr>
            <a:r>
              <a:t>AI Fine-Tuning offers the best balance of speed, cost, and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200400"/>
            <a:ext cx="85340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C8DCFF"/>
                </a:solidFill>
              </a:defRPr>
            </a:pPr>
            <a:r>
              <a:t>✓  Fill the 5,000+ question gap in just 4 weeks</a:t>
            </a:r>
          </a:p>
          <a:p>
            <a:pPr algn="l">
              <a:spcAft>
                <a:spcPts val="1200"/>
              </a:spcAft>
              <a:defRPr sz="1800">
                <a:solidFill>
                  <a:srgbClr val="C8DCFF"/>
                </a:solidFill>
              </a:defRPr>
            </a:pPr>
            <a:r>
              <a:t>✓  Save 86% compared to manual creation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C8DCFF"/>
                </a:solidFill>
              </a:defRPr>
            </a:pPr>
            <a:r>
              <a:t>✓  In-house experts ensure quality control</a:t>
            </a:r>
          </a:p>
          <a:p>
            <a:pPr algn="l">
              <a:spcAft>
                <a:spcPts val="1200"/>
              </a:spcAft>
              <a:defRPr sz="1800">
                <a:solidFill>
                  <a:srgbClr val="C8DCFF"/>
                </a:solidFill>
              </a:defRPr>
            </a:pPr>
            <a:r>
              <a:t>✓  Scalable solution for future growth</a:t>
            </a:r>
          </a:p>
          <a:p>
            <a:pPr algn="l">
              <a:spcAft>
                <a:spcPts val="1200"/>
              </a:spcAft>
              <a:defRPr sz="1800">
                <a:solidFill>
                  <a:srgbClr val="C8DCFF"/>
                </a:solidFill>
              </a:defRPr>
            </a:pPr>
            <a:r>
              <a:t>✓  Low-risk pilot approach (50 questions first)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91695" cy="1828800"/>
          </a:xfrm>
          <a:prstGeom prst="rect">
            <a:avLst/>
          </a:prstGeom>
          <a:solidFill>
            <a:srgbClr val="1F4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DCFF"/>
                </a:solidFill>
              </a:defRPr>
            </a:pPr>
            <a:r>
              <a:t>Ready to discuss next steps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